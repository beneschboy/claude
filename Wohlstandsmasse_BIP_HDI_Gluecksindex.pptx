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5920" y="822960"/>
            <a:ext cx="2560320" cy="2560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173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Wirtschaft</a:t>
            </a:r>
          </a:p>
        </p:txBody>
      </p:sp>
      <p:sp>
        <p:nvSpPr>
          <p:cNvPr id="6" name="Oval 5"/>
          <p:cNvSpPr/>
          <p:nvPr/>
        </p:nvSpPr>
        <p:spPr>
          <a:xfrm>
            <a:off x="4800600" y="822960"/>
            <a:ext cx="2560320" cy="256032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4173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HDI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Entwicklung</a:t>
            </a:r>
          </a:p>
        </p:txBody>
      </p:sp>
      <p:sp>
        <p:nvSpPr>
          <p:cNvPr id="9" name="Oval 8"/>
          <p:cNvSpPr/>
          <p:nvPr/>
        </p:nvSpPr>
        <p:spPr>
          <a:xfrm>
            <a:off x="7955280" y="822960"/>
            <a:ext cx="2560320" cy="2560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4173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WHR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Glück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WOHLSTANDSMASSE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EE"/>
                </a:solidFill>
                <a:latin typeface="Calibri"/>
              </a:rPr>
              <a:t>BIP  |  HDI  |  Glücksindex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21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7F8C8D"/>
                </a:solidFill>
                <a:latin typeface="Calibri"/>
              </a:rPr>
              <a:t>Wie messen wir den Wohlstand einer Gesellschaft?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F8C8D"/>
                </a:solidFill>
                <a:latin typeface="Calibri"/>
              </a:rPr>
              <a:t>GW-Oberstufe  |  Österreich im Fokus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 ist Wohlstand?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Verschiedene Perspektiven auf gesellschaftliches Wohlergehen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Weltbank | UNDP | World Happiness Report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3675887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161288"/>
            <a:ext cx="1097280" cy="109728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3493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Calibri"/>
              </a:rPr>
              <a:t>Materieller Wohlstand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44368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Einkommen &amp; Konsum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438144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Güter &amp; Dienstleistungen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931920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Wirtschaftswachstum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425696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Lebensstandard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024128"/>
            <a:ext cx="3675887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1161288"/>
            <a:ext cx="1097280" cy="109728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0008"/>
            <a:ext cx="3493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Menschliche Entwicklung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944368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Gesundheit &amp; Lebenserwartung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438144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Bildung &amp; Wissen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3931920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Würdiger Lebensstandard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4425696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Chancengleichheit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1024128"/>
            <a:ext cx="3675887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28048" y="1161288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:)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350008"/>
            <a:ext cx="34930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Subjektives Wohlbefinden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944368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Lebenszufriedenheit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3438144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Soziale Unterstützung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931920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Freiheit &amp; Selbstbestimmung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425696"/>
            <a:ext cx="33467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  <a:latin typeface="Calibri"/>
              </a:rPr>
              <a:t>•  Vertrauen in Institutionen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35508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  <a:latin typeface="Calibri"/>
              </a:rPr>
              <a:t>Kein einzelner Indikator kann Wohlstand vollständig erfassen – deshalb gibt es verschiedene Messansätze.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BIP: Das Bruttoinlandsprodukt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Der meistverwendete Indikator für wirtschaftliche Leistung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Statistik Austria (statistik.at), Daten 2023 | Weltbank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69848"/>
            <a:ext cx="7132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15568"/>
            <a:ext cx="6812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80B9"/>
                </a:solidFill>
                <a:latin typeface="Calibri"/>
              </a:rPr>
              <a:t>Definition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2C3E50"/>
                </a:solidFill>
                <a:latin typeface="Calibri"/>
              </a:rPr>
              <a:t>Das BIP misst den Gesamtwert aller Waren und Dienstleistungen, die innerhalb eines Landes in einem bestimmten Zeitraum produziert werden.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069848"/>
            <a:ext cx="402336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18872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BIP  =  C + I + G + (X – M)</a:t>
            </a:r>
          </a:p>
          <a:p>
            <a:pPr algn="ctr">
              <a:spcBef>
                <a:spcPts val="700"/>
              </a:spcBef>
            </a:pPr>
            <a:r>
              <a:rPr sz="1200" b="0" i="0">
                <a:solidFill>
                  <a:srgbClr val="CCDDEE"/>
                </a:solidFill>
                <a:latin typeface="Calibri"/>
              </a:rPr>
              <a:t>Konsum + Investitionen + Staat + Nettoexporte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58568"/>
            <a:ext cx="2743200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BIP Österreich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6032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1455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Mrd. 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3741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Platz 28 weltweit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258568"/>
            <a:ext cx="2743200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331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BIP/Kopf Österreich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56032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52.130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1455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EUR pro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3741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EU-Schnitt: 38.200 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258568"/>
            <a:ext cx="2743200" cy="1417320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BIP/Kopf EU-27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56032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38.200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1455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EUR pro Person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3741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Österreich +36 % darüber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258568"/>
            <a:ext cx="2743200" cy="1417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331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BIP/Kopf weltweit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56032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12.740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314553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USD (Weltbank 2023)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858768"/>
            <a:ext cx="5623560" cy="43891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297680"/>
            <a:ext cx="5623560" cy="1709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Stärken des BIP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4389120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International vergleichbar &amp; standardisiert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4809744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Einfach, transparent &amp; gut dokumentiert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230368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Lange Zeitreihen verfügbar (AT seit 1950er)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5650992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Guter Konjunkturindikator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858768"/>
            <a:ext cx="562356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297680"/>
            <a:ext cx="5623560" cy="1709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92277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Schwächen des BIP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4389120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Ignoriert Verteilung (arm vs. reich)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4809744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Unbezahlte Arbeit (Pflege, Haushalt) nicht erfasst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5230368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Umweltschäden nicht berücksichtigt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5650992"/>
            <a:ext cx="5294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Sagt nichts über Lebensqualität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BIP pro Kopf: Österreich im 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Kaufkraftstandards (KKS) im europäischen und globalen Vergleich,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Eurostat (ec.europa.eu/eurostat), KKS-Daten 2023 | Statistik Austria, VGR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069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BIP/Kopf (KKS in EUR)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08176"/>
            <a:ext cx="7040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721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Luxemburg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499616"/>
            <a:ext cx="3726688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0976" y="14721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79.640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65376"/>
            <a:ext cx="7040880" cy="43891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293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Irland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956816"/>
            <a:ext cx="3385312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9600" y="19293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72.250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22576"/>
            <a:ext cx="7040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865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Schweiz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414016"/>
            <a:ext cx="3100832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5120" y="23865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66.100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79776"/>
            <a:ext cx="7040880" cy="43891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Niederlande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871216"/>
            <a:ext cx="2759456" cy="256032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3744" y="28437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8287"/>
                </a:solidFill>
                <a:latin typeface="Calibri"/>
              </a:rPr>
              <a:t>58.860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36976"/>
            <a:ext cx="7040880" cy="43891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009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80B9"/>
                </a:solidFill>
                <a:latin typeface="Calibri"/>
              </a:rPr>
              <a:t>Österreich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328416"/>
            <a:ext cx="2645664" cy="2560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9952" y="33009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56.430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694176"/>
            <a:ext cx="7040880" cy="43891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581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Deutschland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785615"/>
            <a:ext cx="2503424" cy="256032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7712" y="37581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8287"/>
                </a:solidFill>
                <a:latin typeface="Calibri"/>
              </a:rPr>
              <a:t>53.390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151376"/>
            <a:ext cx="7040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2153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EU-27 Schnitt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4242816"/>
            <a:ext cx="1763776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8064" y="42153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38.200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608576"/>
            <a:ext cx="7040880" cy="43891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725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Ungarn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4700016"/>
            <a:ext cx="1422400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26688" y="46725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32.150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065776"/>
            <a:ext cx="7040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1297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Bulgarien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5157216"/>
            <a:ext cx="1081024" cy="256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5312" y="51297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  <a:latin typeface="Calibri"/>
              </a:rPr>
              <a:t>24.270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522976"/>
            <a:ext cx="7040880" cy="43891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8698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Welt-Schnitt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5614416"/>
            <a:ext cx="68275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87040" y="55869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7E22"/>
                </a:solidFill>
                <a:latin typeface="Calibri"/>
              </a:rPr>
              <a:t>12.740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1024128"/>
            <a:ext cx="4023360" cy="4389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1463040"/>
            <a:ext cx="4023360" cy="2258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108813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Österreich im Fokus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1554480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BIP/Kopf ca. 36 % über EU-Schnitt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1975104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Platz 5 in der EU (KKS-bereinigt)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395728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Starker Dienstleistungssektor (71 %)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2816352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Tourismus = ca. 7 % des BIP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3236976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Wichtigster Handelspartner: Deutschland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858768"/>
            <a:ext cx="402336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0" y="4297680"/>
            <a:ext cx="4023360" cy="1709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9560" y="392277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Wusstest du?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6992" y="4389120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Katar: höchstes BIP/Kopf – aber Platz 35 im Glücksindex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36992" y="4809744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Österreichs BIP wuchs 2023 nur +0,1 %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6992" y="5230368"/>
            <a:ext cx="3694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Wien allein: ca. 26 % des österreichischen BIP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HDI: Human Development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Mehrdimensionales Maß der menschlichen Entwicklung (UNDP, seit 1990)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UNDP Human Development Report 2024 (hdr.undp.org), Daten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3675887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161288"/>
            <a:ext cx="1097280" cy="109728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Calibri"/>
              </a:rPr>
              <a:t>Gesundheit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  <a:latin typeface="Calibri"/>
              </a:rPr>
              <a:t>Langes, gesundes Leben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Lebenserwartung bei Geburt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  <a:latin typeface="Calibri"/>
              </a:rPr>
              <a:t>AT: 82,0 J.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4208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8287"/>
                </a:solidFill>
                <a:latin typeface="Calibri"/>
              </a:rPr>
              <a:t>EU: 80,1 J.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5496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7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Welt: 73,4 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024128"/>
            <a:ext cx="3675887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4416" y="1161288"/>
            <a:ext cx="1097280" cy="109728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35000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Bildung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76148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  <a:latin typeface="Calibri"/>
              </a:rPr>
              <a:t>Zugang zu Wissen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8152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Erwartete &amp; mittlere Schuljahre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449"/>
                </a:solidFill>
                <a:latin typeface="Calibri"/>
              </a:rPr>
              <a:t>AT: 16,2 / 12,4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5272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8287"/>
                </a:solidFill>
                <a:latin typeface="Calibri"/>
              </a:rPr>
              <a:t>EU: 16,0 / 12,1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9128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Welt: 12,7 / 8,7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024128"/>
            <a:ext cx="3675887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28048" y="1161288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1325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3" y="235000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Lebensstandard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3" y="276148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  <a:latin typeface="Calibri"/>
              </a:rPr>
              <a:t>Würdiges Leben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3081528"/>
            <a:ext cx="3493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BNE pro Kopf (Kaufkraftparität)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0183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5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  <a:latin typeface="Calibri"/>
              </a:rPr>
              <a:t>AT: 58.530 $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1472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18903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48287"/>
                </a:solidFill>
                <a:latin typeface="Calibri"/>
              </a:rPr>
              <a:t>EU: ~48.000 $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52759" y="3538728"/>
            <a:ext cx="1097280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80191" y="3584448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Welt: 16.150 $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425696"/>
            <a:ext cx="11365992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489704"/>
            <a:ext cx="11365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HDI  =  ³√( Gesundheitsindex  ×  Bildungsindex  ×  Einkommensindex 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138928"/>
            <a:ext cx="2743200" cy="1417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212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HDI Österreich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44068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0,926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602589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Rang 18 von 193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5138928"/>
            <a:ext cx="2743200" cy="14173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5212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HDI Schweiz (#1)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4992" y="544068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0,967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64992" y="602589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Höchster HDI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138928"/>
            <a:ext cx="2743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212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HDI Süd-Sudan (letzt.)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544068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0,285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602589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Niedrigster HDI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52560" y="5138928"/>
            <a:ext cx="2743200" cy="1417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20" y="5212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HDI Weltdurchschnitt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25712" y="5440680"/>
            <a:ext cx="25968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0,741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25712" y="6025896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Mittelwert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World Happiness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Subjektives Wohlbefinden im internationalen Vergleich (seit 2012)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World Happiness Report 2024 (worldhappiness.report) | Gallup World Poll, Daten 2021–2023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69848"/>
            <a:ext cx="1136599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6128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Methode: </a:t>
            </a:r>
          </a:p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Menschen bewerten ihr Leben auf der Cantril-Leiter (0 = schlechtestes, 10 = bestmögliches Leben). Der Länderdurchschnitt ergibt den Happiness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568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Die 6 Erklärungsfaktoren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22576"/>
            <a:ext cx="1783080" cy="2926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BIP pro Kopf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Wirtschaftliche
Grundlage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0008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0008" y="2322576"/>
            <a:ext cx="1783080" cy="29260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Soziale
Unterstützung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Familie &amp;
Freunde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2322576"/>
            <a:ext cx="1783080" cy="292608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Lebens-
erwartung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Gesunde
Lebensjahre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2322576"/>
            <a:ext cx="1783080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Freiheit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Eigene Ent-
scheidungen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65592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65592" y="2322576"/>
            <a:ext cx="178308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Großzügigkeit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Spenden &amp;
Helfen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2322576"/>
            <a:ext cx="1783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2322576"/>
            <a:ext cx="178308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241401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Korruptions-
freiheit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  <a:latin typeface="Calibri"/>
              </a:rPr>
              <a:t>Vertrauen in
Institutionen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9044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Top 5 &amp; Österreich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79392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315968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1.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315968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Finnland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361688"/>
            <a:ext cx="1627814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0198" y="4315968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7,74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626864"/>
            <a:ext cx="5303520" cy="33832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63440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663440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Dänemark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4709159"/>
            <a:ext cx="1594164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6548" y="4663440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7,58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974336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0109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3.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10912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Island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5056631"/>
            <a:ext cx="1583649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6033" y="5010912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7,53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321808"/>
            <a:ext cx="5303520" cy="33832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358384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  <a:latin typeface="Calibri"/>
              </a:rPr>
              <a:t>4.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358384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Schweiz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5404104"/>
            <a:ext cx="1575236" cy="1828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7620" y="5358384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7,49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669279"/>
            <a:ext cx="530352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705855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  <a:latin typeface="Calibri"/>
              </a:rPr>
              <a:t>5.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5705855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Niederlande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5751575"/>
            <a:ext cx="1560515" cy="1828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32899" y="5705855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7,42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6016752"/>
            <a:ext cx="5303520" cy="33832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053328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80B9"/>
                </a:solidFill>
                <a:latin typeface="Calibri"/>
              </a:rPr>
              <a:t>14.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6053328"/>
            <a:ext cx="18288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  <a:latin typeface="Calibri"/>
              </a:rPr>
              <a:t>Österreich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71800" y="6099048"/>
            <a:ext cx="1489008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61392" y="6053328"/>
            <a:ext cx="594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  <a:latin typeface="Calibri"/>
              </a:rPr>
              <a:t>7,08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3904487"/>
            <a:ext cx="5788152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89320" y="4343400"/>
            <a:ext cx="5788152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3968496"/>
            <a:ext cx="5513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Österreich im Glücksindex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3912" y="4434840"/>
            <a:ext cx="5458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Platz 14 von 143 Ländern (Score: 7,08)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3912" y="4855464"/>
            <a:ext cx="5458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Stärken: soziale Sicherheit, Gesundheitssystem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53912" y="5276088"/>
            <a:ext cx="5458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Schwäche: Vertrauen in Politik unter EU-Schnitt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53912" y="5696712"/>
            <a:ext cx="5458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Kulturell: Österreicher antworten zurückhaltend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Vergleich: BIP vs. HDI vs. Glücksindex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Jeder Indikator hat Stärken und blinde Flecken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Weltbank | UNDP | World Happiness Report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96112"/>
            <a:ext cx="11365992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Kriterium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6012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960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960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Glücksindex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371600"/>
            <a:ext cx="2834640" cy="54864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137160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1136599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48132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Was wird gemessen?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81328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Wirtschaftsleistung
(Geldwert)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813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Menschl. Entwicklung
(Gesundh., Bild., Eink.)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48132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Subjektives Wohlbefinden
(Lebenszufriedenheit)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039112"/>
            <a:ext cx="11365992" cy="61264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9397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Datentyp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93976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Objektiv / monetär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9397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Objektiv / mehrdimensional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9397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Subjektiv / Befragung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651760"/>
            <a:ext cx="1136599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70662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Erfasst Verteilung?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706624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70662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Teilweise (IHDI seit 2010)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0662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Indirekt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264408"/>
            <a:ext cx="11365992" cy="61264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31927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Erfasst Umwelt?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319272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31927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31927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77056"/>
            <a:ext cx="1136599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Erfasst Gesundheit?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931920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319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Ja (Lebenserwartung)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93192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Ja (als Faktor)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489704"/>
            <a:ext cx="11365992" cy="61264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5445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Erfasst Bildung?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544568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Nein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54456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Ja (Schuljahre)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445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Indirekt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102352"/>
            <a:ext cx="11365992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15721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Kulturelle Verzerrung?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157216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Gering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15721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Gering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15721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Hoch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715000"/>
            <a:ext cx="11365992" cy="61264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76986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Rang Österreich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769864"/>
            <a:ext cx="2468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Platz ~28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76986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Platz 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76986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Platz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Gleiches Land – verschiedene Ränge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Warum die Wahl des Indikators entscheidend 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Weltbank | UNDP | World Happiness Report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2679192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Österreich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9105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BIP/Kopf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9280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980B9"/>
                </a:solidFill>
                <a:latin typeface="Calibri"/>
              </a:rPr>
              <a:t>52.130 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441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~28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0837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31012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980B9"/>
                </a:solidFill>
                <a:latin typeface="Calibri"/>
              </a:rPr>
              <a:t>0,926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8587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2569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80559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Happiness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72744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980B9"/>
                </a:solidFill>
                <a:latin typeface="Calibri"/>
              </a:rPr>
              <a:t>7,08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27608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272" y="1024128"/>
            <a:ext cx="2679192" cy="457200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078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159105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164592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BIP/Kopf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424" y="189280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48287"/>
                </a:solidFill>
                <a:latin typeface="Calibri"/>
              </a:rPr>
              <a:t>76.330 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2441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300837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306324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2424" y="331012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48287"/>
                </a:solidFill>
                <a:latin typeface="Calibri"/>
              </a:rPr>
              <a:t>0,927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4" y="38587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442569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2" y="4480559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Happiness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2424" y="472744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48287"/>
                </a:solidFill>
                <a:latin typeface="Calibri"/>
              </a:rPr>
              <a:t>6,73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2424" y="527608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1024128"/>
            <a:ext cx="2679192" cy="457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1078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Costa Rica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7064" y="159105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164592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BIP/Kopf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189280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  <a:latin typeface="Calibri"/>
              </a:rPr>
              <a:t>13.670 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441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7064" y="300837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8504" y="306324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331012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  <a:latin typeface="Calibri"/>
              </a:rPr>
              <a:t>0,806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38587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7064" y="442569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8504" y="4480559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Happiness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472744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8449"/>
                </a:solidFill>
                <a:latin typeface="Calibri"/>
              </a:rPr>
              <a:t>7,13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527608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4856" y="1024128"/>
            <a:ext cx="2679192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6296" y="1078992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Katar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34856" y="159105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26296" y="164592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BIP/Kopf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8008" y="189280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67E22"/>
                </a:solidFill>
                <a:latin typeface="Calibri"/>
              </a:rPr>
              <a:t>87.660 USD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8008" y="2441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34856" y="300837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6296" y="3063240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HDI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8008" y="331012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67E22"/>
                </a:solidFill>
                <a:latin typeface="Calibri"/>
              </a:rPr>
              <a:t>0,875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8" y="385876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42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34856" y="4425696"/>
            <a:ext cx="267919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26296" y="4480559"/>
            <a:ext cx="2496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  <a:latin typeface="Calibri"/>
              </a:rPr>
              <a:t>Happiness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08008" y="4727448"/>
            <a:ext cx="25328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67E22"/>
                </a:solidFill>
                <a:latin typeface="Calibri"/>
              </a:rPr>
              <a:t>6,32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8008" y="527608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Platz 35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824728"/>
            <a:ext cx="11365992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9161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Erkenntnis: Ein hohes BIP garantiert weder hohe Lebenszufriedenheit noch gute menschliche Entwicklung. Costa Rica zeigt: auch mit weniger Wirtschaftskraft ist ein hoher Happiness-Score möglich.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Fazit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Wohlstand ist mehr als Geld – aber wie messen wir ihn am besten?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Weltbank | UNDP | World Happiness Report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3675887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0784" y="1133856"/>
            <a:ext cx="1097280" cy="109728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12984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22576"/>
            <a:ext cx="3493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80B9"/>
                </a:solidFill>
                <a:latin typeface="Calibri"/>
              </a:rPr>
              <a:t>BIP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80360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Unverzichtbar für Wirtschaftspolitik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282696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Aber: kein Maß für Lebensqualität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685032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Allein nicht aussagekräftig genug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024128"/>
            <a:ext cx="3675887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14416" y="1133856"/>
            <a:ext cx="1097280" cy="109728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12984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22576"/>
            <a:ext cx="3493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HDI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880360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Breiterer Blick als das BIP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282696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Erfasst Gesundheit &amp; Bildung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685032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Aber: keine Umwelt- oder Verteilungsdaten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024128"/>
            <a:ext cx="3675887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28048" y="1133856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2984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:)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322576"/>
            <a:ext cx="3493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Glücksindex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880360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Erfasst was Menschen wirklich fühlen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282696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Zeigt: Geld allein ist nicht alles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685032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•  Aber: kulturell verzerrt &amp; subjektiv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78808"/>
            <a:ext cx="11365992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42816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Kein einzelner Indikator kann Wohlstand vollständig messen.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CDDEE"/>
                </a:solidFill>
                <a:latin typeface="Calibri"/>
              </a:rPr>
              <a:t>Eine Kombination verschiedener Maße liefert das beste Bild einer Gesellschaft.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230368"/>
            <a:ext cx="113659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94376"/>
            <a:ext cx="11064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Diskussion:  Welches Maß findest du am aussagekräftigsten? Welche Aspekte fehlen bei allen drei Indikatoren?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Aufgaben &amp; Weiterführendes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  <a:latin typeface="Calibri"/>
              </a:rPr>
              <a:t>Vertiefung und eigenständiges Arbeiten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Quellen: Weltbank | UNDP | World Happiness Report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486400" cy="4389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48640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881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Aufgabe 1: Ländervergleich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5448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Wähle zwei Länder und vergleiche BIP/Kopf, HDI und Happiness-Score.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4884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Erstelle eine Tabelle und erkläre die Unterschiede.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74320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Nutze: data.worldbank.org und hdr.undp.org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486400" cy="43891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48640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881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Aufgabe 2: Kritische Reflexion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55448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Warum liegt Costa Rica im Glücksindex vor Österreich, obwohl das BIP/Kopf viel niedriger ist?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4884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Nenne mindestens drei mögliche Gründe.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4320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Diskutiert eure Ergebnisse in der Gruppe.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38728"/>
            <a:ext cx="54864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977639"/>
            <a:ext cx="548640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027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Aufgabe 3: Eigener Wohlstandsindex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6908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Entwirf einen eigenen Index mit 5 Kriterien.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66344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Gewichte die Kriterien (z. B. Umwelt 30 %, Bildung 20 %, ...).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25780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Begründe, warum du diese Kriterien gewählt hast.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538728"/>
            <a:ext cx="5486400" cy="438912"/>
          </a:xfrm>
          <a:prstGeom prst="rect">
            <a:avLst/>
          </a:prstGeom>
          <a:solidFill>
            <a:srgbClr val="14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977639"/>
            <a:ext cx="548640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6027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Aufgabe 4: Österreich-Recherche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06908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Recherchiere auf statistik.at die BIP-Entwicklung der letzten 10 Jahre.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66344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Erstelle ein Liniendiagramm und beschreibe Trends.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257800"/>
            <a:ext cx="5157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Welche Ereignisse erklären Einbrüche oder Anstiege?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44768"/>
            <a:ext cx="1136599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208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Weiterführende Quellen: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statistik.at  –  BIP &amp; VGR Österreich     |     data.worldbank.org  –  BIP global     |     hdr.undp.org  –  HDI-Bericht     |     worldhappiness.report  –  WHR Daten     |     ec.europa.eu/eurostat  –  EU-Vergleichsdaten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