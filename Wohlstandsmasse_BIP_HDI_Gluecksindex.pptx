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0" y="1097280"/>
            <a:ext cx="2560320" cy="2560320"/>
          </a:xfrm>
          <a:prstGeom prst="ellipse">
            <a:avLst/>
          </a:prstGeom>
          <a:solidFill>
            <a:srgbClr val="0070C0">
              <a:alpha val="8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645920" y="16459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Wirtschaft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800600" y="1097280"/>
            <a:ext cx="2560320" cy="2560320"/>
          </a:xfrm>
          <a:prstGeom prst="ellipse">
            <a:avLst/>
          </a:prstGeom>
          <a:solidFill>
            <a:srgbClr val="047857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800600" y="16459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80060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Entwicklung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955280" y="1097280"/>
            <a:ext cx="2560320" cy="2560320"/>
          </a:xfrm>
          <a:prstGeom prst="ellipse">
            <a:avLst/>
          </a:prstGeom>
          <a:solidFill>
            <a:srgbClr val="D97706">
              <a:alpha val="85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7955280" y="16459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WHR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955280" y="2743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Glück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02336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6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WOHLSTANDSMASSE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messen wir den Wohlstand einer Gesellschaft?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55778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GW-Oberstufe  |  Österreich im Fokus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ist Wohlstand?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Verschiedene Perspektiven auf gesellschaftliches Wohlergehen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645920" y="1554480"/>
            <a:ext cx="914400" cy="91440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5661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697480"/>
            <a:ext cx="356616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Materieller Wohlstand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Einkommen &amp; Konsum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Güter &amp; Dienstleistungen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Wirtschaftswachstum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Lebensstandard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0" y="1554480"/>
            <a:ext cx="914400" cy="914400"/>
          </a:xfrm>
          <a:prstGeom prst="ellipse">
            <a:avLst/>
          </a:prstGeom>
          <a:solidFill>
            <a:srgbClr val="047857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4297680" y="2697480"/>
            <a:ext cx="35661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2697480"/>
            <a:ext cx="356616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Menschliche Entwicklung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80560" y="33375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Gesundheit &amp; Lebenserwartung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Bildung &amp; Wissen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Würdiger Lebensstandard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Chancengleichheit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326880" y="1554480"/>
            <a:ext cx="914400" cy="91440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0" y="16459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8138160" y="2697480"/>
            <a:ext cx="356616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697480"/>
            <a:ext cx="35661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8803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Subjektives Wohlbefinden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333756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Lebenszufriedenheit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Soziale Unterstützung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Freiheit &amp; Selbstbestimmung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Vertrauen in Institutionen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" y="6309360"/>
            <a:ext cx="11247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einzelner Indikator kann Wohlstand vollständig erfassen – deshalb gibt es verschiedene Messansätze.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Weltbank | UNDP | World Happiness Report 2024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BIP: Das Bruttoinlandsprodukt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meistverwendete Indikator für wirtschaftliche Leistung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71323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" cy="1005840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3619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BIP misst den Gesamtwert aller Waren und Dienstleistungen, die innerhalb eines Landes in einem bestimmten Zeitraum produziert werden. In Österreich wird es von der Statistik Austria berechnet.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863840" y="1463040"/>
            <a:ext cx="3886200" cy="1005840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0" y="155448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BIP = C + I + G + (X – M)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Konsum + Investitionen + Staat + Nettoexporte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743200"/>
            <a:ext cx="54864" cy="1371600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 Österreich 2023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044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7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" y="34930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Mrd. EUR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28 weltweit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83280" y="27432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83280" y="2743200"/>
            <a:ext cx="54864" cy="1371600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7" name="Text 15"/>
          <p:cNvSpPr/>
          <p:nvPr/>
        </p:nvSpPr>
        <p:spPr>
          <a:xfrm>
            <a:off x="3566160" y="2834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 Österreich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566160" y="3044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7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52.130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3566160" y="34930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pro Person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566160" y="370332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EU-Schnitt: 38.200 EUR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2743200"/>
            <a:ext cx="27432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09360" y="2743200"/>
            <a:ext cx="54864" cy="1371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6492240" y="28346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 EU-27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92240" y="3044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38.200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6492240" y="34930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 pro Person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370332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Österreich +36 % darüber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235440" y="2743200"/>
            <a:ext cx="2514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235440" y="2743200"/>
            <a:ext cx="54864" cy="13716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9" name="Text 27"/>
          <p:cNvSpPr/>
          <p:nvPr/>
        </p:nvSpPr>
        <p:spPr>
          <a:xfrm>
            <a:off x="9418320" y="28346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 weltweit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30449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12.740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9418320" y="34930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(Weltbank 2023)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370332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Große Unterschiede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4389120"/>
            <a:ext cx="5532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4389120"/>
            <a:ext cx="553212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" y="4572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Stärken des BIP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0080" y="4937760"/>
            <a:ext cx="5166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vergleichbar &amp; standardisiert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Einfach, transparent &amp; gut dokumentiert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 Zeitreihen verfügbar (AT seit 1950er)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Guter Konjunkturindikator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217920" y="4389120"/>
            <a:ext cx="55321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217920" y="4389120"/>
            <a:ext cx="5532120" cy="54864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0" y="4572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Schwächen des BIP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400800" y="4937760"/>
            <a:ext cx="5166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Verteilung (arm vs. reich)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Unbezahlte Arbeit (Pflege, Haushalt) nicht erfasst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Umweltschäden nicht berücksichtigt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Sagt nichts über Lebensqualität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Statistik Austria (statistik.at), Daten 2023 | Weltbank (data.worldbank.org), Daten 2023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BIP pro Kopf: Österreich im Vergleich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Kaufkraftstandards (KKS) im europäischen und globalen Vergleich, 2023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03120" y="1417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 (KKS in EUR)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7040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Luxemburg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1856232"/>
            <a:ext cx="3549227" cy="2560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9" name="Text 7"/>
          <p:cNvSpPr/>
          <p:nvPr/>
        </p:nvSpPr>
        <p:spPr>
          <a:xfrm>
            <a:off x="5789507" y="18288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79.640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212848"/>
            <a:ext cx="7040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5856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Irland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103120" y="2286000"/>
            <a:ext cx="3224107" cy="2560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3" name="Text 11"/>
          <p:cNvSpPr/>
          <p:nvPr/>
        </p:nvSpPr>
        <p:spPr>
          <a:xfrm>
            <a:off x="5464387" y="22585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72.250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642616"/>
            <a:ext cx="7040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68833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Schweiz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103120" y="2715768"/>
            <a:ext cx="2953173" cy="2560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7" name="Text 15"/>
          <p:cNvSpPr/>
          <p:nvPr/>
        </p:nvSpPr>
        <p:spPr>
          <a:xfrm>
            <a:off x="5193453" y="268833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66.100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72384"/>
            <a:ext cx="7040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11810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Niederlande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103120" y="3145536"/>
            <a:ext cx="2628053" cy="2560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4868333" y="311810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58.860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502152"/>
            <a:ext cx="704088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5478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Österreich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103120" y="3575304"/>
            <a:ext cx="2519680" cy="256032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25" name="Text 23"/>
          <p:cNvSpPr/>
          <p:nvPr/>
        </p:nvSpPr>
        <p:spPr>
          <a:xfrm>
            <a:off x="4759960" y="35478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56.430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7040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9776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Deutschland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103120" y="4005072"/>
            <a:ext cx="2384213" cy="25603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7"/>
          <p:cNvSpPr/>
          <p:nvPr/>
        </p:nvSpPr>
        <p:spPr>
          <a:xfrm>
            <a:off x="4624493" y="3977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53.390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361688"/>
            <a:ext cx="7040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40740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EU-27 Schnitt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103120" y="4434840"/>
            <a:ext cx="2113280" cy="2560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Text 31"/>
          <p:cNvSpPr/>
          <p:nvPr/>
        </p:nvSpPr>
        <p:spPr>
          <a:xfrm>
            <a:off x="4353560" y="44074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38.200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791456"/>
            <a:ext cx="7040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8371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Ungarn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103120" y="4864608"/>
            <a:ext cx="1435947" cy="2560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7" name="Text 35"/>
          <p:cNvSpPr/>
          <p:nvPr/>
        </p:nvSpPr>
        <p:spPr>
          <a:xfrm>
            <a:off x="3676227" y="483717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32.150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221224"/>
            <a:ext cx="704088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26694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Bulgarien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103120" y="5294376"/>
            <a:ext cx="1083733" cy="256032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41" name="Text 39"/>
          <p:cNvSpPr/>
          <p:nvPr/>
        </p:nvSpPr>
        <p:spPr>
          <a:xfrm>
            <a:off x="3324013" y="526694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24.270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200" y="5650992"/>
            <a:ext cx="7040880" cy="41148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69671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Welt-Schnitt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103120" y="5724144"/>
            <a:ext cx="812800" cy="25603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5" name="Text 43"/>
          <p:cNvSpPr/>
          <p:nvPr/>
        </p:nvSpPr>
        <p:spPr>
          <a:xfrm>
            <a:off x="3053080" y="56967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12.740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772400" y="1417320"/>
            <a:ext cx="3977640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772400" y="1417320"/>
            <a:ext cx="397764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48" name="Text 46"/>
          <p:cNvSpPr/>
          <p:nvPr/>
        </p:nvSpPr>
        <p:spPr>
          <a:xfrm>
            <a:off x="7955280" y="1600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Österreich im Fokus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955280" y="201168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 ca. 36 % über EU-Schnitt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5 in der EU (KKS-bereinigt)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Starker Dienstleistungssektor (71 %)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Tourismus = ca. 7 % des BIP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Wichtigster Handelspartner: Deutschland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772400" y="4206240"/>
            <a:ext cx="397764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772400" y="4206240"/>
            <a:ext cx="397764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2" name="Text 50"/>
          <p:cNvSpPr/>
          <p:nvPr/>
        </p:nvSpPr>
        <p:spPr>
          <a:xfrm>
            <a:off x="7955280" y="43891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Wusstest du?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7955280" y="4800600"/>
            <a:ext cx="3611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Katar hat das höchste BIP/Kopf weltweit – aber nur Platz 35 im Glücksindex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Österreichs BIP wuchs 2023 nur +0,1 % (Energiekrise, Inflation)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Wien allein erwirtschaftet ca. 26 % des österreichischen BIP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Eurostat (ec.europa.eu/eurostat), KKS-Daten 2023 | Statistik Austria, VGR 2023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HDI: Human Development Index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Mehrdimensionales Maß der menschlichen Entwicklung (UNDP, seit 1990)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5661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17320"/>
            <a:ext cx="356616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Shape 4"/>
          <p:cNvSpPr/>
          <p:nvPr/>
        </p:nvSpPr>
        <p:spPr>
          <a:xfrm>
            <a:off x="1783080" y="1645920"/>
            <a:ext cx="822960" cy="82296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5"/>
          <p:cNvSpPr/>
          <p:nvPr/>
        </p:nvSpPr>
        <p:spPr>
          <a:xfrm>
            <a:off x="1783080" y="16916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9436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Gesundheit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9260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Langes, gesundes Leben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Lebenserwartung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Geburt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AT: 82,0 J.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682496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EU: 80,1 J.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98064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8064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Welt: 73,4 J.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97680" y="1417320"/>
            <a:ext cx="35661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97680" y="1417320"/>
            <a:ext cx="356616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9" name="Shape 17"/>
          <p:cNvSpPr/>
          <p:nvPr/>
        </p:nvSpPr>
        <p:spPr>
          <a:xfrm>
            <a:off x="5623560" y="1645920"/>
            <a:ext cx="822960" cy="822960"/>
          </a:xfrm>
          <a:prstGeom prst="ellipse">
            <a:avLst/>
          </a:prstGeom>
          <a:solidFill>
            <a:srgbClr val="047857"/>
          </a:solidFill>
          <a:ln/>
        </p:spPr>
      </p:sp>
      <p:sp>
        <p:nvSpPr>
          <p:cNvPr id="20" name="Text 18"/>
          <p:cNvSpPr/>
          <p:nvPr/>
        </p:nvSpPr>
        <p:spPr>
          <a:xfrm>
            <a:off x="5623560" y="16916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43484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Bildung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434840" y="29260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Zugang zu Wissen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3484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Erwartete &amp; mittlere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Schuljahre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07408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07408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AT: 16,2 / 12,4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22976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22976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EU: 16,0 / 12,1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38544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38544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Welt: 12,7 / 8,7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138160" y="1417320"/>
            <a:ext cx="356616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8160" y="1417320"/>
            <a:ext cx="35661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4040" y="1645920"/>
            <a:ext cx="822960" cy="8229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3" name="Text 31"/>
          <p:cNvSpPr/>
          <p:nvPr/>
        </p:nvSpPr>
        <p:spPr>
          <a:xfrm>
            <a:off x="9464040" y="169164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8275320" y="2606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Lebensstandard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8275320" y="292608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Würdiges Leben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75320" y="32004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BNE pro Kopf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(Kaufkraftparität)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47888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7888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AT: 58.530 $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363456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363456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EU: ~48.000 $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0479024" y="3657600"/>
            <a:ext cx="1051560" cy="5029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79024" y="372160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Welt: 16.150 $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709160"/>
            <a:ext cx="11292840" cy="548640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57200" y="4754880"/>
            <a:ext cx="11292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HDI  =  ³√( Gesundheitsindex  ×  Bildungsindex  ×  Einkommensindex )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457200" y="548640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57200" y="5486400"/>
            <a:ext cx="54864" cy="822960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47" name="Text 45"/>
          <p:cNvSpPr/>
          <p:nvPr/>
        </p:nvSpPr>
        <p:spPr>
          <a:xfrm>
            <a:off x="640080" y="55778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 Österreich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0080" y="57881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7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0,926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640080" y="62362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18 von 193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383280" y="548640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83280" y="5486400"/>
            <a:ext cx="54864" cy="822960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52" name="Text 50"/>
          <p:cNvSpPr/>
          <p:nvPr/>
        </p:nvSpPr>
        <p:spPr>
          <a:xfrm>
            <a:off x="3566160" y="55778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 Schweiz (#1)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3566160" y="57881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0,967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3566160" y="62362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HDI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309360" y="5486400"/>
            <a:ext cx="27432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309360" y="5486400"/>
            <a:ext cx="54864" cy="822960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Text 55"/>
          <p:cNvSpPr/>
          <p:nvPr/>
        </p:nvSpPr>
        <p:spPr>
          <a:xfrm>
            <a:off x="6492240" y="557784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 Süd-Sudan (letzter)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6492240" y="57881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0,285</a:t>
            </a:r>
            <a:endParaRPr lang="en-US" sz="2800" dirty="0"/>
          </a:p>
        </p:txBody>
      </p:sp>
      <p:sp>
        <p:nvSpPr>
          <p:cNvPr id="59" name="Text 57"/>
          <p:cNvSpPr/>
          <p:nvPr/>
        </p:nvSpPr>
        <p:spPr>
          <a:xfrm>
            <a:off x="6492240" y="623620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Niedrigster HDI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235440" y="5486400"/>
            <a:ext cx="251460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9235440" y="5486400"/>
            <a:ext cx="54864" cy="8229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62" name="Text 60"/>
          <p:cNvSpPr/>
          <p:nvPr/>
        </p:nvSpPr>
        <p:spPr>
          <a:xfrm>
            <a:off x="9418320" y="55778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 Welt-Schnitt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418320" y="57881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0,741</a:t>
            </a:r>
            <a:endParaRPr lang="en-US" sz="2800" dirty="0"/>
          </a:p>
        </p:txBody>
      </p:sp>
      <p:sp>
        <p:nvSpPr>
          <p:cNvPr id="64" name="Text 62"/>
          <p:cNvSpPr/>
          <p:nvPr/>
        </p:nvSpPr>
        <p:spPr>
          <a:xfrm>
            <a:off x="9418320" y="623620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Mittelwert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UNDP Human Development Report 2024 (hdr.undp.org), Daten 2023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Happiness Report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Subjektives Wohlbefinden im internationalen Vergleich (seit 2012)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928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1732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087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Menschen bewerten ihr Leben auf der Cantril-Leiter (0 = schlechtestes, 10 = bestmögliches Leben). Der Länderdurchschnitt ergibt den Happiness Score.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377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6 Erklärungsfaktoren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1737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743200"/>
            <a:ext cx="173736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 pro Kopf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Wirtschaftliche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Grundlage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77440" y="2743200"/>
            <a:ext cx="1737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377440" y="2743200"/>
            <a:ext cx="173736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4" name="Text 12"/>
          <p:cNvSpPr/>
          <p:nvPr/>
        </p:nvSpPr>
        <p:spPr>
          <a:xfrm>
            <a:off x="246888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Soziale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Unterstützung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68880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Freunde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2743200"/>
            <a:ext cx="1737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97680" y="2743200"/>
            <a:ext cx="173736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Lebens-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erwartung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89120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Gesunde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Lebensjahre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17920" y="2743200"/>
            <a:ext cx="1737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2743200"/>
            <a:ext cx="17373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Freiheit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09360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Entschei-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dungen treffen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2743200"/>
            <a:ext cx="1737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8160" y="2743200"/>
            <a:ext cx="173736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Großzügigkeit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229600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Spenden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Helfen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058400" y="2743200"/>
            <a:ext cx="1737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058400" y="2743200"/>
            <a:ext cx="1737360" cy="54864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0" name="Text 28"/>
          <p:cNvSpPr/>
          <p:nvPr/>
        </p:nvSpPr>
        <p:spPr>
          <a:xfrm>
            <a:off x="10149840" y="292608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Korruptions-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freiheit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149840" y="34747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Vertrauen 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Institutionen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434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5 &amp; Österreich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457200" y="4800600"/>
            <a:ext cx="53035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8188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51560" y="481888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Finnland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834640" y="4855464"/>
            <a:ext cx="1557040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7" name="Text 35"/>
          <p:cNvSpPr/>
          <p:nvPr/>
        </p:nvSpPr>
        <p:spPr>
          <a:xfrm>
            <a:off x="4464832" y="48188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7,74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5074920"/>
            <a:ext cx="530352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509320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51560" y="509320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Dänemark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834640" y="5129784"/>
            <a:ext cx="1524853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2" name="Text 40"/>
          <p:cNvSpPr/>
          <p:nvPr/>
        </p:nvSpPr>
        <p:spPr>
          <a:xfrm>
            <a:off x="4432645" y="50932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7,58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349240"/>
            <a:ext cx="53035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5367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051560" y="536752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Island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834640" y="5404104"/>
            <a:ext cx="1514795" cy="16459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7" name="Text 45"/>
          <p:cNvSpPr/>
          <p:nvPr/>
        </p:nvSpPr>
        <p:spPr>
          <a:xfrm>
            <a:off x="4422587" y="53675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7,53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" y="5623560"/>
            <a:ext cx="5303520" cy="27432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5641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1051560" y="564184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Schweiz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834640" y="5678424"/>
            <a:ext cx="1506748" cy="1645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52" name="Text 50"/>
          <p:cNvSpPr/>
          <p:nvPr/>
        </p:nvSpPr>
        <p:spPr>
          <a:xfrm>
            <a:off x="4414540" y="56418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7,49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57200" y="5897880"/>
            <a:ext cx="53035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" y="59161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051560" y="59161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Niederlande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34640" y="5952744"/>
            <a:ext cx="1492667" cy="164592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57" name="Text 55"/>
          <p:cNvSpPr/>
          <p:nvPr/>
        </p:nvSpPr>
        <p:spPr>
          <a:xfrm>
            <a:off x="4400459" y="59161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7,42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57200" y="6172200"/>
            <a:ext cx="5303520" cy="274320"/>
          </a:xfrm>
          <a:prstGeom prst="rect">
            <a:avLst/>
          </a:prstGeom>
          <a:solidFill>
            <a:srgbClr val="EFF6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8640" y="619048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051560" y="619048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Österreich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834640" y="6227064"/>
            <a:ext cx="1424269" cy="164592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2" name="Text 60"/>
          <p:cNvSpPr/>
          <p:nvPr/>
        </p:nvSpPr>
        <p:spPr>
          <a:xfrm>
            <a:off x="4332061" y="61904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7,08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6035040" y="4434840"/>
            <a:ext cx="571500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035040" y="4434840"/>
            <a:ext cx="57150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65" name="Text 63"/>
          <p:cNvSpPr/>
          <p:nvPr/>
        </p:nvSpPr>
        <p:spPr>
          <a:xfrm>
            <a:off x="6217920" y="4617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Österreich im Glücksindex</a:t>
            </a:r>
            <a:endParaRPr lang="en-US" sz="1600" dirty="0"/>
          </a:p>
        </p:txBody>
      </p:sp>
      <p:sp>
        <p:nvSpPr>
          <p:cNvPr id="66" name="Text 64"/>
          <p:cNvSpPr/>
          <p:nvPr/>
        </p:nvSpPr>
        <p:spPr>
          <a:xfrm>
            <a:off x="6217920" y="5029200"/>
            <a:ext cx="5349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14 von 143 Ländern (Score: 7,08)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Stärken: soziale Sicherheit, Gesundheitssystem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Schwäche: Vertrauen in Politik unter EU-Schnitt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Kultureller Faktor: Österreicher antworten eher zurückhaltend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World Happiness Report 2024 (worldhappiness.report) | Gallup World Poll, Daten 2021–2023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BIP vs. HDI vs. Glücksindex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Indikator hat Stärken und blinde Flecken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1292840" cy="4572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3560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Kriterium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435608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80760" y="1435608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98280" y="143560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Glücksindex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37560" y="1874520"/>
            <a:ext cx="2606040" cy="36576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10" name="Shape 8"/>
          <p:cNvSpPr/>
          <p:nvPr/>
        </p:nvSpPr>
        <p:spPr>
          <a:xfrm>
            <a:off x="6080760" y="1874520"/>
            <a:ext cx="2880360" cy="36576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1" name="Shape 9"/>
          <p:cNvSpPr/>
          <p:nvPr/>
        </p:nvSpPr>
        <p:spPr>
          <a:xfrm>
            <a:off x="9098280" y="1874520"/>
            <a:ext cx="2651760" cy="36576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938528"/>
            <a:ext cx="11292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96596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wird gemessen?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29000" y="196596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Wirtschaftsleistung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(Geldwert)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72200" y="196596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Menschl. Entwicklung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(Gesundh., Bild., Eink.)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89720" y="196596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Subjektives Wohlbefinden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(Lebenszufriedenheit)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87168"/>
            <a:ext cx="112928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1460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Datentyp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29000" y="251460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Objektiv / monetär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251460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Objektiv / mehrdimensional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89720" y="251460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Subjektiv / Befragung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35808"/>
            <a:ext cx="11292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6324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Verteilung?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306324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306324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Teilweise (IHDI)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189720" y="306324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Indirekt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84448"/>
            <a:ext cx="112928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361188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Umwelt?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29000" y="361188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72200" y="361188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89720" y="36118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4133088"/>
            <a:ext cx="11292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16052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Gesundheit?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29000" y="416052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72200" y="416052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(Lebenserwartung)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189720" y="416052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(als Faktor)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4681728"/>
            <a:ext cx="112928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70916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Bildung?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429000" y="470916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172200" y="470916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 (Schuljahre)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189720" y="470916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Indirekt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57200" y="5230368"/>
            <a:ext cx="112928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48640" y="525780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Kulturelle Verzerrung?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429000" y="525780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172200" y="525780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Gering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189720" y="525780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Hoch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5779008"/>
            <a:ext cx="11292840" cy="54864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5806440"/>
            <a:ext cx="2560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 Österreich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429000" y="5806440"/>
            <a:ext cx="2423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~28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72200" y="5806440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18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89720" y="580644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14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Weltbank | UNDP | World Happiness Report 2024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Gleiches Land – verschiedene Ränge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die Wahl des Indikators entscheidend ist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97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17320"/>
            <a:ext cx="269748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Österreich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4360" y="219456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2402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52.130 EUR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2816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~28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324612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29184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0,926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5800" y="386791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429768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34340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7,08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85800" y="49194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37560" y="1417320"/>
            <a:ext cx="2697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37560" y="1417320"/>
            <a:ext cx="269748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USA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474720" y="219456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22402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56616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76.330 USD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3566160" y="2816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7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324612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66160" y="329184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66160" y="3474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0,927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566160" y="386791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17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0" y="429768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66160" y="434340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6,73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566160" y="49194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23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1417320"/>
            <a:ext cx="2697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17920" y="1417320"/>
            <a:ext cx="269748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36" name="Text 34"/>
          <p:cNvSpPr/>
          <p:nvPr/>
        </p:nvSpPr>
        <p:spPr>
          <a:xfrm>
            <a:off x="6309360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Costa Rica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>
            <a:off x="6355080" y="219456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46520" y="22402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4652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13.670 USD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446520" y="2816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80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55080" y="324612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329184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46520" y="3474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0,806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46520" y="386791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58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429768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46520" y="434340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46520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478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7,13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6446520" y="49194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12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098280" y="1417320"/>
            <a:ext cx="269748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098280" y="1417320"/>
            <a:ext cx="269748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51" name="Text 49"/>
          <p:cNvSpPr/>
          <p:nvPr/>
        </p:nvSpPr>
        <p:spPr>
          <a:xfrm>
            <a:off x="9189720" y="16002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Katar</a:t>
            </a:r>
            <a:endParaRPr lang="en-US" sz="2200" dirty="0"/>
          </a:p>
        </p:txBody>
      </p:sp>
      <p:sp>
        <p:nvSpPr>
          <p:cNvPr id="52" name="Shape 50"/>
          <p:cNvSpPr/>
          <p:nvPr/>
        </p:nvSpPr>
        <p:spPr>
          <a:xfrm>
            <a:off x="9235440" y="219456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26880" y="224028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BIP/Kopf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326880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87.660 USD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9326880" y="281635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4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9235440" y="324612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26880" y="329184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HDI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0" y="3474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0,875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0" y="386791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42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235440" y="4297680"/>
            <a:ext cx="2423160" cy="914400"/>
          </a:xfrm>
          <a:prstGeom prst="rect">
            <a:avLst/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326880" y="4343400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Happiness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9326880" y="45262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6,32</a:t>
            </a:r>
            <a:endParaRPr lang="en-US" sz="2200" dirty="0"/>
          </a:p>
        </p:txBody>
      </p:sp>
      <p:sp>
        <p:nvSpPr>
          <p:cNvPr id="63" name="Text 61"/>
          <p:cNvSpPr/>
          <p:nvPr/>
        </p:nvSpPr>
        <p:spPr>
          <a:xfrm>
            <a:off x="9326880" y="4919472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Platz 35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57200" y="5715000"/>
            <a:ext cx="11292840" cy="640080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40080" y="5760720"/>
            <a:ext cx="10927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Erkenntnis: Ein hohes BIP garantiert weder hohe Lebenszufriedenheit noch gute menschliche Entwicklung. Costa Rica zeigt: auch mit weniger Wirtschaftskraft ist ein hoher Happiness-Score möglich.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Weltbank (data.worldbank.org) 2023 | UNDP (hdr.undp.org) 2024 | WHR (worldhappiness.report) 2024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Fazit &amp; Diskussion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Wohlstand ist mehr als Geld – aber wie messen wir ihn am besten?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783080" y="1463040"/>
            <a:ext cx="822960" cy="82296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5" name="Text 3"/>
          <p:cNvSpPr/>
          <p:nvPr/>
        </p:nvSpPr>
        <p:spPr>
          <a:xfrm>
            <a:off x="1783080" y="15087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35661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468880"/>
            <a:ext cx="356616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0632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Unverzichtbar für Wirtschaftspolitik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kein Maß für Lebensqualität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Allein nicht aussagekräftig genug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rgbClr val="047857"/>
          </a:solidFill>
          <a:ln/>
        </p:spPr>
      </p:sp>
      <p:sp>
        <p:nvSpPr>
          <p:cNvPr id="11" name="Text 9"/>
          <p:cNvSpPr/>
          <p:nvPr/>
        </p:nvSpPr>
        <p:spPr>
          <a:xfrm>
            <a:off x="5623560" y="15087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297680" y="2468880"/>
            <a:ext cx="35661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2468880"/>
            <a:ext cx="356616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4" name="Text 12"/>
          <p:cNvSpPr/>
          <p:nvPr/>
        </p:nvSpPr>
        <p:spPr>
          <a:xfrm>
            <a:off x="448056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HDI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80560" y="30632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Breiterer Blick als das BIP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Gesundheit &amp; Bildung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keine Umwelt- oder Verteilungsdaten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64040" y="1463040"/>
            <a:ext cx="822960" cy="8229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7" name="Text 15"/>
          <p:cNvSpPr/>
          <p:nvPr/>
        </p:nvSpPr>
        <p:spPr>
          <a:xfrm>
            <a:off x="9464040" y="150876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56616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468880"/>
            <a:ext cx="356616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651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Glücksindex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306324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Erfasst was Menschen wirklich fühlen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Zeigt: Geld allein ist nicht alles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kulturell verzerrt &amp; subjektiv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4800600"/>
            <a:ext cx="11292840" cy="914400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4892040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einzelner Indikator kann Wohlstand vollständig messen.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Kombination verschiedener Maße liefert das beste Bild einer Gesellschaft.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57200" y="5897880"/>
            <a:ext cx="11292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5897880"/>
            <a:ext cx="54864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 Welches Maß findest du am aussagekräftigsten?  Welche Aspekte fehlen bei allen drei Indikatoren?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Weltbank | UNDP | World Happiness Report 2024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Aufgaben &amp; Weiterführendes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 und eigenständiges Arbeiten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463040"/>
            <a:ext cx="5486400" cy="5486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Aufgabe 1: Ländervergleich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Wähle zwei Länder und vergleiche BIP/Kopf, HDI und Happiness-Score.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Erstelle eine Tabelle und erkläre die Unterschiede.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Nutze: data.worldbank.org und hdr.undp.org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532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463040"/>
            <a:ext cx="5532120" cy="54864"/>
          </a:xfrm>
          <a:prstGeom prst="rect">
            <a:avLst/>
          </a:prstGeom>
          <a:solidFill>
            <a:srgbClr val="047857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16459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Aufgabe 2: Kritische Reflexion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0" y="201168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liegt Costa Rica im Glücksindex vor Österreich, obwohl das BIP/Kopf viel niedriger ist?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Nenne mindestens drei mögliche Gründe.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Diskutiert eure Ergebnisse in der Gruppe.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246120"/>
            <a:ext cx="54864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246120"/>
            <a:ext cx="5486400" cy="5486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4290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Aufgabe 3: Eigener Wohlstandsindex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379476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Entwirf einen eigenen Wohlstandsindex mit 5 Kriterien.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Gewichte die Kriterien (z. B. Umwelt 30 %, Bildung 20 %, ...).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Begründe, warum du diese Kriterien gewählt hast.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46120"/>
            <a:ext cx="55321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246120"/>
            <a:ext cx="553212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3429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Aufgabe 4: Österreich-Recherche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3794760"/>
            <a:ext cx="5166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Recherchiere auf statistik.at die BIP-Entwicklung Österreichs der letzten 10 Jahre.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Erstelle ein Liniendiagramm und beschreibe Trends.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Welche Ereignisse erklären Einbrüche oder Anstiege?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5029200"/>
            <a:ext cx="1129284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5029200"/>
            <a:ext cx="54864" cy="12801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120640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Weiterführende Quellen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544068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 Austria: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statistik.at – BIP, VGR, Wirtschaftsdaten Österreich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Weltbank Open Data: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data.worldbank.org – BIP aller Länder (Daten 2023)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UNDP Human Development: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hdr.undp.org – HDI-Bericht und Länderdaten (Daten 2024)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Happiness Report: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worldhappiness.report – Jährlicher Bericht und Datendownload (Daten 2024)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Eurostat: 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ec.europa.eu/eurostat – EU-Vergleichsdaten BIP, Kaufkraftstandards (Daten 2023)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Quellen: Weltbank | UNDP | World Happiness Report 2024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Wohlstandsmaße – BIP, HDI &amp; Glücksindex</dc:title>
  <dc:subject>PptxGenJS Presentation</dc:subject>
  <dc:creator>Julian – GeoWiKu</dc:creator>
  <cp:lastModifiedBy>Julian – GeoWiKu</cp:lastModifiedBy>
  <cp:revision>1</cp:revision>
  <dcterms:created xsi:type="dcterms:W3CDTF">2026-03-31T09:09:29Z</dcterms:created>
  <dcterms:modified xsi:type="dcterms:W3CDTF">2026-03-31T09:09:29Z</dcterms:modified>
</cp:coreProperties>
</file>